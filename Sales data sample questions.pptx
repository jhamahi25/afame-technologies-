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13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6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9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176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1">
              <a:rPr lang="en-US" smtClean="0"/>
              <a:t>5/19/2024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39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1">
              <a:rPr lang="en-US" smtClean="0"/>
              <a:t>5/19/2024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8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1">
              <a:rPr lang="en-US" smtClean="0"/>
              <a:t>5/19/2024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36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9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1">
              <a:rPr lang="en-US" smtClean="0"/>
              <a:t>5/19/2024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41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471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1">
              <a:rPr lang="en-US" smtClean="0"/>
              <a:t>5/19/2024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065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Different coloured question marks">
            <a:extLst>
              <a:ext uri="{FF2B5EF4-FFF2-40B4-BE49-F238E27FC236}">
                <a16:creationId xmlns:a16="http://schemas.microsoft.com/office/drawing/2014/main" id="{BB615E82-BF19-A431-728E-861F4DF7F9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32" r="31818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00CE21-47AC-DDFC-B743-C945BDEB84B9}"/>
              </a:ext>
            </a:extLst>
          </p:cNvPr>
          <p:cNvSpPr txBox="1"/>
          <p:nvPr/>
        </p:nvSpPr>
        <p:spPr>
          <a:xfrm>
            <a:off x="612648" y="600075"/>
            <a:ext cx="6035040" cy="8818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spc="50" dirty="0">
                <a:ln w="0"/>
                <a:solidFill>
                  <a:srgbClr val="00B050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lt"/>
                <a:ea typeface="+mj-ea"/>
                <a:cs typeface="+mj-cs"/>
              </a:rPr>
              <a:t>SAMPLE QUESTIONS</a:t>
            </a:r>
            <a:r>
              <a:rPr lang="en-US" sz="3600" b="1" kern="12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E8C3F-66E1-55A1-49CE-B25965562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1671145"/>
            <a:ext cx="6035040" cy="4638215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4000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highlight>
                  <a:srgbClr val="FFFFFF"/>
                </a:highlight>
              </a:rPr>
              <a:t> How has sales performance changed from 2011 to 2014?</a:t>
            </a:r>
          </a:p>
          <a:p>
            <a:pPr marL="4000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highlight>
                  <a:srgbClr val="FFFFFF"/>
                </a:highlight>
              </a:rPr>
              <a:t>What are the top 5 bestselling products with the highest total sales?</a:t>
            </a:r>
          </a:p>
          <a:p>
            <a:pPr marL="4000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highlight>
                  <a:srgbClr val="FFFFFF"/>
                </a:highlight>
              </a:rPr>
              <a:t>Which state has noticeably higher sales compared to others?</a:t>
            </a:r>
          </a:p>
          <a:p>
            <a:pPr marL="4000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highlight>
                  <a:srgbClr val="FFFFFF"/>
                </a:highlight>
              </a:rPr>
              <a:t>What percentage of total sales is contributed by Technology, Furniture, and Office Supplies?</a:t>
            </a:r>
          </a:p>
          <a:p>
            <a:pPr marL="4000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highlight>
                  <a:srgbClr val="FFFFFF"/>
                </a:highlight>
              </a:rPr>
              <a:t>How do sales compare across the West, East, Central, and South regions?</a:t>
            </a:r>
          </a:p>
          <a:p>
            <a:pPr marL="4000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highlight>
                  <a:srgbClr val="FFFFFF"/>
                </a:highlight>
              </a:rPr>
              <a:t>How do sales vary by month over the period from 2011 to 2014?</a:t>
            </a:r>
          </a:p>
          <a:p>
            <a:pPr marL="4000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highlight>
                  <a:srgbClr val="FFFFFF"/>
                </a:highlight>
              </a:rPr>
              <a:t>How has profit performance changed from 2011 to 2014?</a:t>
            </a:r>
          </a:p>
          <a:p>
            <a:pPr marL="4000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i="0" dirty="0">
              <a:effectLst/>
              <a:highlight>
                <a:srgbClr val="FFFFFF"/>
              </a:highlight>
            </a:endParaRPr>
          </a:p>
          <a:p>
            <a:pPr marL="57150"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68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B68B-E2B8-37A8-521C-D9B52CFCC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55494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INSIGHTS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DDB65-ACF7-1125-0C25-6D3811286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103586"/>
            <a:ext cx="10653579" cy="52057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/>
              <a:t>Sales performance from 2011 to 2014 has consistently </a:t>
            </a:r>
            <a:r>
              <a:rPr lang="en-US" sz="1800" b="1" dirty="0"/>
              <a:t>increased</a:t>
            </a:r>
            <a:r>
              <a:rPr lang="en-US" sz="1800" b="1" dirty="0">
                <a:solidFill>
                  <a:srgbClr val="00B050"/>
                </a:solidFill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/>
              <a:t>Overall growth: $11.35M.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00B050"/>
                </a:solidFill>
              </a:rPr>
              <a:t> </a:t>
            </a:r>
            <a:r>
              <a:rPr lang="en-IN" sz="1800" dirty="0"/>
              <a:t>The </a:t>
            </a:r>
            <a:r>
              <a:rPr lang="en-IN" sz="1800" b="1" dirty="0"/>
              <a:t>top 5 bestselling products </a:t>
            </a:r>
            <a:r>
              <a:rPr lang="en-IN" sz="1800" dirty="0"/>
              <a:t>with the highest total sales are: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1. Canon </a:t>
            </a:r>
            <a:r>
              <a:rPr lang="en-IN" sz="1800" dirty="0" err="1"/>
              <a:t>imageCLASS</a:t>
            </a:r>
            <a:r>
              <a:rPr lang="en-IN" sz="1800" dirty="0"/>
              <a:t> 2200 Advanced Copier: $2,08,599.00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2. GBC </a:t>
            </a:r>
            <a:r>
              <a:rPr lang="en-IN" sz="1800" dirty="0" err="1"/>
              <a:t>Ibimaster</a:t>
            </a:r>
            <a:r>
              <a:rPr lang="en-IN" sz="1800" dirty="0"/>
              <a:t> 500 Manual </a:t>
            </a:r>
            <a:r>
              <a:rPr lang="en-IN" sz="1800" dirty="0" err="1"/>
              <a:t>ProClick</a:t>
            </a:r>
            <a:r>
              <a:rPr lang="en-IN" sz="1800" dirty="0"/>
              <a:t> Binding System: $1,62,389.83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3. HON 5400 Series Task Chairs for Big and Tall: $1,24,492.45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4. Samsung Galaxy Mega 6.3:  $1,18,100.39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5. Hewlett Packard LaserJet 3310 Copier:  $1,11,476.54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9D630-FB9D-F0B1-E594-23A4EDA07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1">
              <a:rPr lang="en-US" smtClean="0"/>
              <a:t>5/19/2024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02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0B5AE-8A70-493E-7D3C-2B851A499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488731"/>
            <a:ext cx="10653579" cy="58206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 sz="1800" b="1" i="0" dirty="0">
                <a:effectLst/>
                <a:highlight>
                  <a:srgbClr val="FFFFFF"/>
                </a:highlight>
              </a:rPr>
              <a:t>California </a:t>
            </a:r>
            <a:r>
              <a:rPr lang="en-US" sz="1800" b="0" i="0" dirty="0">
                <a:effectLst/>
                <a:highlight>
                  <a:srgbClr val="FFFFFF"/>
                </a:highlight>
              </a:rPr>
              <a:t>has noticeably higher sales compared to other states with a total of $18,77,316.51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0" i="0" dirty="0">
                <a:solidFill>
                  <a:srgbClr val="00B050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n-US" sz="1800" b="0" i="0" dirty="0">
                <a:effectLst/>
                <a:highlight>
                  <a:srgbClr val="FFFFFF"/>
                </a:highlight>
              </a:rPr>
              <a:t>Sales comparison across the regions is as follows: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0" i="0" dirty="0">
                <a:effectLst/>
                <a:highlight>
                  <a:srgbClr val="FFFFFF"/>
                </a:highlight>
              </a:rPr>
              <a:t>West:  $5,69,357.94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0" i="0" dirty="0">
                <a:effectLst/>
                <a:highlight>
                  <a:srgbClr val="FFFFFF"/>
                </a:highlight>
              </a:rPr>
              <a:t>East: $5,29,490.71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0" i="0" dirty="0">
                <a:effectLst/>
                <a:highlight>
                  <a:srgbClr val="FFFFFF"/>
                </a:highlight>
              </a:rPr>
              <a:t>Central:  $3,98,366.31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0" i="0" dirty="0">
                <a:effectLst/>
                <a:highlight>
                  <a:srgbClr val="FFFFFF"/>
                </a:highlight>
              </a:rPr>
              <a:t>South: $2,98,637.83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0" i="0" dirty="0">
                <a:effectLst/>
                <a:highlight>
                  <a:srgbClr val="FFFFFF"/>
                </a:highlight>
              </a:rPr>
              <a:t>The </a:t>
            </a:r>
            <a:r>
              <a:rPr lang="en-US" sz="1800" b="1" i="0" dirty="0">
                <a:effectLst/>
                <a:highlight>
                  <a:srgbClr val="FFFFFF"/>
                </a:highlight>
              </a:rPr>
              <a:t>West</a:t>
            </a:r>
            <a:r>
              <a:rPr lang="en-US" sz="1800" b="0" i="0" dirty="0">
                <a:effectLst/>
                <a:highlight>
                  <a:srgbClr val="FFFFFF"/>
                </a:highlight>
              </a:rPr>
              <a:t> region has the highest sales, followed by the East, Central, and South regions.</a:t>
            </a:r>
            <a:endParaRPr lang="en-US" sz="1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00B050"/>
                </a:solidFill>
              </a:rPr>
              <a:t> </a:t>
            </a:r>
            <a:r>
              <a:rPr lang="en-US" sz="1800" dirty="0"/>
              <a:t>September generally has the highest sales across all four years. In September of 2011, sales were $64,048.33. September of 2013 had the highest overall sales at $59,371.64.</a:t>
            </a:r>
            <a:endParaRPr lang="en-US" sz="1800" b="0" dirty="0">
              <a:effectLst/>
              <a:highlight>
                <a:srgbClr val="FFFFFF"/>
              </a:highlight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B050"/>
                </a:solidFill>
              </a:rPr>
              <a:t>  </a:t>
            </a:r>
            <a:endParaRPr lang="en-IN" sz="1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346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5A7AA-88CD-068C-BC90-A35A2F7C7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520262"/>
            <a:ext cx="11019515" cy="578909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December sales are high in three out of the four years. December of 2014 is the highest at $77,190.08.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/>
              <a:t>January sales are high in only one year, 2014, at $38,373.64. February sales are consistently low across all four years.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Sales tend to be </a:t>
            </a:r>
            <a:r>
              <a:rPr lang="en-US" b="1" dirty="0"/>
              <a:t>higher</a:t>
            </a:r>
            <a:r>
              <a:rPr lang="en-US" dirty="0"/>
              <a:t> in the later part of the year, from </a:t>
            </a:r>
            <a:r>
              <a:rPr lang="en-US" b="1" dirty="0"/>
              <a:t>September to December.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Profits steadily increased from </a:t>
            </a:r>
            <a:r>
              <a:rPr lang="en-US" b="1" dirty="0"/>
              <a:t>$37,533 </a:t>
            </a:r>
            <a:r>
              <a:rPr lang="en-US" dirty="0"/>
              <a:t>in 2011 to </a:t>
            </a:r>
            <a:r>
              <a:rPr lang="en-US" b="1" dirty="0"/>
              <a:t>$67,771 </a:t>
            </a:r>
            <a:r>
              <a:rPr lang="en-US" dirty="0"/>
              <a:t>in 2014</a:t>
            </a:r>
            <a:r>
              <a:rPr lang="en-US" dirty="0">
                <a:solidFill>
                  <a:srgbClr val="00B050"/>
                </a:solidFill>
              </a:rPr>
              <a:t>.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78F13-C49D-60F2-F530-F5BBD95B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00413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AnalogousFromLightSeedLeftStep">
      <a:dk1>
        <a:srgbClr val="000000"/>
      </a:dk1>
      <a:lt1>
        <a:srgbClr val="FFFFFF"/>
      </a:lt1>
      <a:dk2>
        <a:srgbClr val="21373B"/>
      </a:dk2>
      <a:lt2>
        <a:srgbClr val="E2E4E8"/>
      </a:lt2>
      <a:accent1>
        <a:srgbClr val="B4A069"/>
      </a:accent1>
      <a:accent2>
        <a:srgbClr val="CD8A6B"/>
      </a:accent2>
      <a:accent3>
        <a:srgbClr val="D6868E"/>
      </a:accent3>
      <a:accent4>
        <a:srgbClr val="CD6B9E"/>
      </a:accent4>
      <a:accent5>
        <a:srgbClr val="D686D1"/>
      </a:accent5>
      <a:accent6>
        <a:srgbClr val="AB6BCD"/>
      </a:accent6>
      <a:hlink>
        <a:srgbClr val="697CAE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357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Neue Haas Grotesk Text Pro</vt:lpstr>
      <vt:lpstr>Wingdings</vt:lpstr>
      <vt:lpstr>VanillaVTI</vt:lpstr>
      <vt:lpstr>PowerPoint Presentation</vt:lpstr>
      <vt:lpstr>INSIGHTS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contact2mahimajha@gmail.com</dc:creator>
  <cp:lastModifiedBy>contact2mahimajha@gmail.com</cp:lastModifiedBy>
  <cp:revision>12</cp:revision>
  <dcterms:created xsi:type="dcterms:W3CDTF">2024-05-19T10:09:14Z</dcterms:created>
  <dcterms:modified xsi:type="dcterms:W3CDTF">2024-05-19T19:43:50Z</dcterms:modified>
</cp:coreProperties>
</file>